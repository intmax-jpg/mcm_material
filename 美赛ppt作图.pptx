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80" r:id="rId6"/>
    <p:sldId id="278" r:id="rId7"/>
    <p:sldId id="281" r:id="rId8"/>
    <p:sldId id="259" r:id="rId9"/>
    <p:sldId id="275" r:id="rId10"/>
    <p:sldId id="265" r:id="rId11"/>
    <p:sldId id="260" r:id="rId12"/>
    <p:sldId id="261" r:id="rId13"/>
    <p:sldId id="262" r:id="rId14"/>
    <p:sldId id="263" r:id="rId15"/>
    <p:sldId id="264" r:id="rId16"/>
    <p:sldId id="272" r:id="rId17"/>
    <p:sldId id="273" r:id="rId18"/>
    <p:sldId id="271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1E4D-37DD-4950-A622-DA76F8A22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EF2C-78A4-47D4-905F-E66CFC7E6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1E4D-37DD-4950-A622-DA76F8A22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EF2C-78A4-47D4-905F-E66CFC7E6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1E4D-37DD-4950-A622-DA76F8A22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EF2C-78A4-47D4-905F-E66CFC7E6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1E4D-37DD-4950-A622-DA76F8A22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EF2C-78A4-47D4-905F-E66CFC7E6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1E4D-37DD-4950-A622-DA76F8A22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EF2C-78A4-47D4-905F-E66CFC7E6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1E4D-37DD-4950-A622-DA76F8A22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EF2C-78A4-47D4-905F-E66CFC7E6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1E4D-37DD-4950-A622-DA76F8A22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EF2C-78A4-47D4-905F-E66CFC7E6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1E4D-37DD-4950-A622-DA76F8A22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EF2C-78A4-47D4-905F-E66CFC7E6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1E4D-37DD-4950-A622-DA76F8A22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EF2C-78A4-47D4-905F-E66CFC7E6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1E4D-37DD-4950-A622-DA76F8A22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EF2C-78A4-47D4-905F-E66CFC7E6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1E4D-37DD-4950-A622-DA76F8A22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EF2C-78A4-47D4-905F-E66CFC7E6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F1E4D-37DD-4950-A622-DA76F8A22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EF2C-78A4-47D4-905F-E66CFC7E68C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0520" y="4467225"/>
            <a:ext cx="2911475" cy="10236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214114" y="4562412"/>
                <a:ext cx="2764790" cy="8470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bg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114" y="4562412"/>
                <a:ext cx="2764790" cy="847090"/>
              </a:xfrm>
              <a:prstGeom prst="rect">
                <a:avLst/>
              </a:prstGeom>
              <a:blipFill rotWithShape="1">
                <a:blip r:embed="rId1"/>
                <a:stretch>
                  <a:fillRect l="-9" t="-68" r="9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833" y="2804257"/>
            <a:ext cx="7474334" cy="2394073"/>
          </a:xfrm>
        </p:spPr>
      </p:pic>
      <p:sp>
        <p:nvSpPr>
          <p:cNvPr id="6" name="矩形 5"/>
          <p:cNvSpPr/>
          <p:nvPr/>
        </p:nvSpPr>
        <p:spPr>
          <a:xfrm>
            <a:off x="5436296" y="3012510"/>
            <a:ext cx="764088" cy="26304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138803" y="3012510"/>
            <a:ext cx="1359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/>
                </a:solidFill>
                <a:latin typeface="Comic Sans MS" panose="030F0702030302020204" pitchFamily="66" charset="0"/>
              </a:rPr>
              <a:t>Residual</a:t>
            </a:r>
            <a:endParaRPr lang="zh-CN" altLang="en-US" dirty="0">
              <a:solidFill>
                <a:schemeClr val="accent6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103630" y="210820"/>
            <a:ext cx="4622165" cy="2808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0965" y="3763010"/>
            <a:ext cx="6271895" cy="2783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97955" y="210820"/>
            <a:ext cx="4622165" cy="28086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97955" y="3737610"/>
            <a:ext cx="4622165" cy="28086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74470" y="1128395"/>
            <a:ext cx="702310" cy="514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2541905" y="1128395"/>
            <a:ext cx="702310" cy="514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B</a:t>
            </a:r>
            <a:endParaRPr lang="zh-CN" altLang="en-US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09340" y="1128395"/>
            <a:ext cx="702310" cy="514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C</a:t>
            </a:r>
            <a:endParaRPr lang="en-US" altLang="zh-CN"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76775" y="1128395"/>
            <a:ext cx="702310" cy="514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D</a:t>
            </a:r>
            <a:endParaRPr lang="en-US" altLang="zh-CN">
              <a:sym typeface="+mn-ea"/>
            </a:endParaRPr>
          </a:p>
        </p:txBody>
      </p:sp>
      <p:cxnSp>
        <p:nvCxnSpPr>
          <p:cNvPr id="12" name="直接箭头连接符 11"/>
          <p:cNvCxnSpPr>
            <a:stCxn id="8" idx="2"/>
          </p:cNvCxnSpPr>
          <p:nvPr/>
        </p:nvCxnSpPr>
        <p:spPr>
          <a:xfrm>
            <a:off x="1825625" y="1643380"/>
            <a:ext cx="8255" cy="1535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502410" y="3244850"/>
            <a:ext cx="674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solidFill>
                  <a:schemeClr val="accent6"/>
                </a:solidFill>
                <a:effectLst/>
                <a:sym typeface="+mn-ea"/>
              </a:rPr>
              <a:t>√</a:t>
            </a:r>
            <a:endParaRPr lang="en-US" altLang="zh-CN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solidFill>
                <a:schemeClr val="accent6"/>
              </a:solidFill>
              <a:effectLst/>
              <a:sym typeface="+mn-ea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2888615" y="1643380"/>
            <a:ext cx="8255" cy="1535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642870" y="3178810"/>
            <a:ext cx="499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×</a:t>
            </a:r>
            <a:endParaRPr lang="en-US" altLang="zh-CN" sz="2400">
              <a:ln w="6600">
                <a:solidFill>
                  <a:srgbClr val="FF0000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6705" y="4950460"/>
            <a:ext cx="1660525" cy="299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athletes_num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264920" y="5363845"/>
            <a:ext cx="702310" cy="299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  <a:sym typeface="+mn-ea"/>
              </a:rPr>
              <a:t>因素</a:t>
            </a:r>
            <a:endParaRPr lang="zh-CN" altLang="en-US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264920" y="5777230"/>
            <a:ext cx="702310" cy="299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  <a:sym typeface="+mn-ea"/>
              </a:rPr>
              <a:t>因素</a:t>
            </a:r>
            <a:endParaRPr lang="zh-CN" altLang="en-US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264920" y="6190615"/>
            <a:ext cx="702310" cy="299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  <a:sym typeface="+mn-ea"/>
              </a:rPr>
              <a:t>因素</a:t>
            </a:r>
            <a:endParaRPr lang="zh-CN" altLang="en-US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197985" y="3848735"/>
            <a:ext cx="2056130" cy="2730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medal_counts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.csv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2489835" y="5321300"/>
            <a:ext cx="1478280" cy="8255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Random Forest</a:t>
            </a:r>
            <a:endParaRPr lang="en-US" altLang="zh-CN" b="1">
              <a:solidFill>
                <a:schemeClr val="accent6">
                  <a:lumMod val="75000"/>
                </a:schemeClr>
              </a:solidFill>
              <a:latin typeface="GWZT-EN" panose="02020400000000000000" charset="-122"/>
              <a:ea typeface="GWZT-EN" panose="02020400000000000000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1264920" y="3848735"/>
            <a:ext cx="1377950" cy="9036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Candidates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7" name="曲线连接符 26"/>
          <p:cNvCxnSpPr>
            <a:stCxn id="3" idx="3"/>
            <a:endCxn id="25" idx="1"/>
          </p:cNvCxnSpPr>
          <p:nvPr/>
        </p:nvCxnSpPr>
        <p:spPr>
          <a:xfrm>
            <a:off x="1967230" y="5100320"/>
            <a:ext cx="522605" cy="633730"/>
          </a:xfrm>
          <a:prstGeom prst="curvedConnector3">
            <a:avLst>
              <a:gd name="adj1" fmla="val 5006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曲线连接符 27"/>
          <p:cNvCxnSpPr/>
          <p:nvPr/>
        </p:nvCxnSpPr>
        <p:spPr>
          <a:xfrm>
            <a:off x="1967230" y="5513705"/>
            <a:ext cx="502920" cy="22669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曲线连接符 30"/>
          <p:cNvCxnSpPr>
            <a:stCxn id="21" idx="3"/>
            <a:endCxn id="25" idx="1"/>
          </p:cNvCxnSpPr>
          <p:nvPr/>
        </p:nvCxnSpPr>
        <p:spPr>
          <a:xfrm flipV="1">
            <a:off x="1967230" y="5734050"/>
            <a:ext cx="522605" cy="193040"/>
          </a:xfrm>
          <a:prstGeom prst="curvedConnector3">
            <a:avLst>
              <a:gd name="adj1" fmla="val 5006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曲线连接符 31"/>
          <p:cNvCxnSpPr>
            <a:stCxn id="22" idx="3"/>
            <a:endCxn id="25" idx="1"/>
          </p:cNvCxnSpPr>
          <p:nvPr/>
        </p:nvCxnSpPr>
        <p:spPr>
          <a:xfrm flipV="1">
            <a:off x="1967230" y="5734050"/>
            <a:ext cx="522605" cy="606425"/>
          </a:xfrm>
          <a:prstGeom prst="curvedConnector3">
            <a:avLst>
              <a:gd name="adj1" fmla="val 5006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曲线连接符 32"/>
          <p:cNvCxnSpPr>
            <a:stCxn id="23" idx="1"/>
            <a:endCxn id="26" idx="3"/>
          </p:cNvCxnSpPr>
          <p:nvPr/>
        </p:nvCxnSpPr>
        <p:spPr>
          <a:xfrm rot="10800000" flipV="1">
            <a:off x="2642870" y="3985260"/>
            <a:ext cx="1555115" cy="315595"/>
          </a:xfrm>
          <a:prstGeom prst="curvedConnector3">
            <a:avLst>
              <a:gd name="adj1" fmla="val 4998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/>
        </p:nvSpPr>
        <p:spPr>
          <a:xfrm>
            <a:off x="5379085" y="4752340"/>
            <a:ext cx="944880" cy="10883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CF</a:t>
            </a:r>
            <a:endParaRPr lang="en-US" altLang="zh-CN" b="1">
              <a:solidFill>
                <a:schemeClr val="accent6">
                  <a:lumMod val="75000"/>
                </a:schemeClr>
              </a:solidFill>
              <a:latin typeface="GWZT-EN" panose="02020400000000000000" charset="-122"/>
              <a:ea typeface="GWZT-EN" panose="02020400000000000000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394075" y="4800600"/>
            <a:ext cx="1679575" cy="299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predicted_num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6" name="曲线连接符 35"/>
          <p:cNvCxnSpPr>
            <a:endCxn id="35" idx="0"/>
          </p:cNvCxnSpPr>
          <p:nvPr/>
        </p:nvCxnSpPr>
        <p:spPr>
          <a:xfrm>
            <a:off x="2755900" y="4298950"/>
            <a:ext cx="1478280" cy="501650"/>
          </a:xfrm>
          <a:prstGeom prst="curvedConnector2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曲线连接符 36"/>
          <p:cNvCxnSpPr/>
          <p:nvPr/>
        </p:nvCxnSpPr>
        <p:spPr>
          <a:xfrm>
            <a:off x="5073650" y="4950460"/>
            <a:ext cx="305435" cy="346075"/>
          </a:xfrm>
          <a:prstGeom prst="curvedConnector3">
            <a:avLst>
              <a:gd name="adj1" fmla="val 5010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4371340" y="5477510"/>
            <a:ext cx="702310" cy="299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Rank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9" name="曲线连接符 38"/>
          <p:cNvCxnSpPr>
            <a:stCxn id="25" idx="3"/>
            <a:endCxn id="38" idx="1"/>
          </p:cNvCxnSpPr>
          <p:nvPr/>
        </p:nvCxnSpPr>
        <p:spPr>
          <a:xfrm flipV="1">
            <a:off x="3968115" y="5627370"/>
            <a:ext cx="403225" cy="106680"/>
          </a:xfrm>
          <a:prstGeom prst="curvedConnector3">
            <a:avLst>
              <a:gd name="adj1" fmla="val 5007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曲线连接符 42"/>
          <p:cNvCxnSpPr>
            <a:stCxn id="38" idx="3"/>
            <a:endCxn id="34" idx="1"/>
          </p:cNvCxnSpPr>
          <p:nvPr/>
        </p:nvCxnSpPr>
        <p:spPr>
          <a:xfrm flipV="1">
            <a:off x="5073650" y="5296535"/>
            <a:ext cx="305435" cy="330835"/>
          </a:xfrm>
          <a:prstGeom prst="curvedConnector3">
            <a:avLst>
              <a:gd name="adj1" fmla="val 5010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3027680" y="3917950"/>
            <a:ext cx="99060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800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Python</a:t>
            </a:r>
            <a:endParaRPr lang="en-US" altLang="zh-CN" sz="1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027680" y="4410075"/>
            <a:ext cx="111125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en-US" altLang="zh-CN" sz="1800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GM(1,1)</a:t>
            </a:r>
            <a:endParaRPr lang="en-US" altLang="zh-CN" sz="1800" b="1">
              <a:solidFill>
                <a:schemeClr val="accent6">
                  <a:lumMod val="75000"/>
                </a:schemeClr>
              </a:solidFill>
              <a:latin typeface="GWZT-EN" panose="02020400000000000000" charset="-122"/>
              <a:ea typeface="GWZT-EN" panose="0202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2736850" y="1548130"/>
            <a:ext cx="7388860" cy="27832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69690" y="2735580"/>
            <a:ext cx="185039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athletes_num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869690" y="3148965"/>
            <a:ext cx="185039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events_num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26410" y="3562350"/>
            <a:ext cx="269367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Attendance_growth_rate 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850515" y="3975735"/>
            <a:ext cx="2869565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sum_of_previous_3sessions 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653655" y="1633855"/>
            <a:ext cx="2353310" cy="2730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medal_counts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.csv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028690" y="3106420"/>
            <a:ext cx="1692275" cy="8255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Random Forest</a:t>
            </a:r>
            <a:endParaRPr lang="en-US" altLang="zh-CN" b="1">
              <a:solidFill>
                <a:schemeClr val="accent6">
                  <a:lumMod val="75000"/>
                </a:schemeClr>
              </a:solidFill>
              <a:latin typeface="GWZT-EN" panose="02020400000000000000" charset="-122"/>
              <a:ea typeface="GWZT-EN" panose="02020400000000000000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3870325" y="1633855"/>
            <a:ext cx="2525395" cy="9036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Candidates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7" name="曲线连接符 26"/>
          <p:cNvCxnSpPr>
            <a:stCxn id="4" idx="3"/>
            <a:endCxn id="25" idx="1"/>
          </p:cNvCxnSpPr>
          <p:nvPr/>
        </p:nvCxnSpPr>
        <p:spPr>
          <a:xfrm>
            <a:off x="5720080" y="2885440"/>
            <a:ext cx="308610" cy="633730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曲线连接符 27"/>
          <p:cNvCxnSpPr/>
          <p:nvPr/>
        </p:nvCxnSpPr>
        <p:spPr>
          <a:xfrm>
            <a:off x="5647690" y="3298825"/>
            <a:ext cx="345440" cy="206375"/>
          </a:xfrm>
          <a:prstGeom prst="curvedConnector3">
            <a:avLst>
              <a:gd name="adj1" fmla="val 50184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曲线连接符 30"/>
          <p:cNvCxnSpPr>
            <a:stCxn id="21" idx="3"/>
            <a:endCxn id="25" idx="1"/>
          </p:cNvCxnSpPr>
          <p:nvPr/>
        </p:nvCxnSpPr>
        <p:spPr>
          <a:xfrm flipV="1">
            <a:off x="5720080" y="3519170"/>
            <a:ext cx="308610" cy="193040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曲线连接符 31"/>
          <p:cNvCxnSpPr>
            <a:stCxn id="22" idx="3"/>
            <a:endCxn id="25" idx="1"/>
          </p:cNvCxnSpPr>
          <p:nvPr/>
        </p:nvCxnSpPr>
        <p:spPr>
          <a:xfrm flipV="1">
            <a:off x="5720080" y="3519170"/>
            <a:ext cx="308610" cy="606425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曲线连接符 32"/>
          <p:cNvCxnSpPr>
            <a:stCxn id="23" idx="1"/>
            <a:endCxn id="26" idx="3"/>
          </p:cNvCxnSpPr>
          <p:nvPr/>
        </p:nvCxnSpPr>
        <p:spPr>
          <a:xfrm rot="10800000" flipV="1">
            <a:off x="6395720" y="1770380"/>
            <a:ext cx="1257935" cy="315595"/>
          </a:xfrm>
          <a:prstGeom prst="curvedConnector3">
            <a:avLst>
              <a:gd name="adj1" fmla="val 49975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904355" y="2585720"/>
            <a:ext cx="1922145" cy="299720"/>
          </a:xfrm>
          <a:prstGeom prst="rect">
            <a:avLst/>
          </a:prstGeom>
          <a:solidFill>
            <a:srgbClr val="FFFF00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predicted_num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6" name="曲线连接符 35"/>
          <p:cNvCxnSpPr>
            <a:endCxn id="35" idx="0"/>
          </p:cNvCxnSpPr>
          <p:nvPr/>
        </p:nvCxnSpPr>
        <p:spPr>
          <a:xfrm>
            <a:off x="6294755" y="2084070"/>
            <a:ext cx="1692275" cy="501650"/>
          </a:xfrm>
          <a:prstGeom prst="curvedConnector2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曲线连接符 36"/>
          <p:cNvCxnSpPr/>
          <p:nvPr/>
        </p:nvCxnSpPr>
        <p:spPr>
          <a:xfrm>
            <a:off x="8782685" y="2735580"/>
            <a:ext cx="348615" cy="345440"/>
          </a:xfrm>
          <a:prstGeom prst="curvedConnector3">
            <a:avLst>
              <a:gd name="adj1" fmla="val 50091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8022590" y="3262630"/>
            <a:ext cx="803910" cy="299720"/>
          </a:xfrm>
          <a:prstGeom prst="rect">
            <a:avLst/>
          </a:prstGeom>
          <a:solidFill>
            <a:srgbClr val="FFFF00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Rank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9" name="曲线连接符 38"/>
          <p:cNvCxnSpPr>
            <a:stCxn id="25" idx="3"/>
            <a:endCxn id="38" idx="1"/>
          </p:cNvCxnSpPr>
          <p:nvPr/>
        </p:nvCxnSpPr>
        <p:spPr>
          <a:xfrm flipV="1">
            <a:off x="7663180" y="3412490"/>
            <a:ext cx="461010" cy="106680"/>
          </a:xfrm>
          <a:prstGeom prst="curvedConnector3">
            <a:avLst>
              <a:gd name="adj1" fmla="val 50079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曲线连接符 42"/>
          <p:cNvCxnSpPr>
            <a:stCxn id="38" idx="3"/>
          </p:cNvCxnSpPr>
          <p:nvPr/>
        </p:nvCxnSpPr>
        <p:spPr>
          <a:xfrm flipV="1">
            <a:off x="8782685" y="3081655"/>
            <a:ext cx="349250" cy="330835"/>
          </a:xfrm>
          <a:prstGeom prst="curvedConnector3">
            <a:avLst>
              <a:gd name="adj1" fmla="val 50104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6637655" y="1703070"/>
            <a:ext cx="1133475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800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Python</a:t>
            </a:r>
            <a:endParaRPr lang="en-US" altLang="zh-CN" sz="1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619875" y="2195195"/>
            <a:ext cx="1271905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en-US" altLang="zh-CN" sz="1800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GM(1,1)</a:t>
            </a:r>
            <a:endParaRPr lang="en-US" altLang="zh-CN" sz="1800" b="1">
              <a:solidFill>
                <a:schemeClr val="accent6">
                  <a:lumMod val="75000"/>
                </a:schemeClr>
              </a:solidFill>
              <a:latin typeface="GWZT-EN" panose="02020400000000000000" charset="-122"/>
              <a:ea typeface="GWZT-EN" panose="02020400000000000000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9128125" y="2537460"/>
            <a:ext cx="944880" cy="1088390"/>
          </a:xfrm>
          <a:prstGeom prst="round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Algerian" panose="04020705040A02060702" charset="0"/>
                <a:ea typeface="GWZT-EN" panose="02020400000000000000" charset="-122"/>
                <a:cs typeface="Algerian" panose="04020705040A02060702" charset="0"/>
              </a:rPr>
              <a:t>CF</a:t>
            </a:r>
            <a:endParaRPr lang="en-US" altLang="zh-CN" b="1">
              <a:solidFill>
                <a:schemeClr val="accent6">
                  <a:lumMod val="75000"/>
                </a:schemeClr>
              </a:solidFill>
              <a:latin typeface="Algerian" panose="04020705040A02060702" charset="0"/>
              <a:ea typeface="GWZT-EN" panose="02020400000000000000" charset="-122"/>
              <a:cs typeface="Algerian" panose="04020705040A0206070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645920" y="1071880"/>
            <a:ext cx="9198610" cy="23387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01545" y="1199515"/>
            <a:ext cx="2884805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New Participants Count 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56410" y="1612900"/>
            <a:ext cx="332994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 No Medal 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Participants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 Count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01800" y="2026285"/>
            <a:ext cx="338455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 Won Medal Participants Count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606040" y="2439670"/>
            <a:ext cx="248031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Events Count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394960" y="2025650"/>
            <a:ext cx="372110" cy="34798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accent6">
                  <a:lumMod val="75000"/>
                </a:schemeClr>
              </a:solidFill>
              <a:latin typeface="GWZT-EN" panose="02020400000000000000" charset="-122"/>
              <a:ea typeface="GWZT-EN" panose="02020400000000000000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266815" y="1349375"/>
            <a:ext cx="2123440" cy="3200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Bootstrap method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7" name="曲线连接符 26"/>
          <p:cNvCxnSpPr>
            <a:stCxn id="4" idx="3"/>
            <a:endCxn id="25" idx="1"/>
          </p:cNvCxnSpPr>
          <p:nvPr/>
        </p:nvCxnSpPr>
        <p:spPr>
          <a:xfrm>
            <a:off x="5086350" y="1349375"/>
            <a:ext cx="308610" cy="850265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曲线连接符 27"/>
          <p:cNvCxnSpPr>
            <a:endCxn id="25" idx="1"/>
          </p:cNvCxnSpPr>
          <p:nvPr/>
        </p:nvCxnSpPr>
        <p:spPr>
          <a:xfrm rot="5400000" flipV="1">
            <a:off x="4995545" y="1800225"/>
            <a:ext cx="417195" cy="381000"/>
          </a:xfrm>
          <a:prstGeom prst="curvedConnector2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曲线连接符 30"/>
          <p:cNvCxnSpPr>
            <a:stCxn id="21" idx="3"/>
            <a:endCxn id="25" idx="1"/>
          </p:cNvCxnSpPr>
          <p:nvPr/>
        </p:nvCxnSpPr>
        <p:spPr>
          <a:xfrm>
            <a:off x="5086350" y="2176145"/>
            <a:ext cx="308610" cy="23495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曲线连接符 31"/>
          <p:cNvCxnSpPr>
            <a:stCxn id="22" idx="3"/>
            <a:endCxn id="25" idx="1"/>
          </p:cNvCxnSpPr>
          <p:nvPr/>
        </p:nvCxnSpPr>
        <p:spPr>
          <a:xfrm flipV="1">
            <a:off x="5086350" y="2199640"/>
            <a:ext cx="308610" cy="389890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257925" y="1855470"/>
            <a:ext cx="2123440" cy="2997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confidence 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interval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cxnSp>
        <p:nvCxnSpPr>
          <p:cNvPr id="36" name="曲线连接符 35"/>
          <p:cNvCxnSpPr>
            <a:stCxn id="26" idx="2"/>
            <a:endCxn id="35" idx="0"/>
          </p:cNvCxnSpPr>
          <p:nvPr/>
        </p:nvCxnSpPr>
        <p:spPr>
          <a:xfrm rot="5400000">
            <a:off x="7231063" y="1757998"/>
            <a:ext cx="186055" cy="8890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曲线连接符 36"/>
          <p:cNvCxnSpPr>
            <a:stCxn id="35" idx="3"/>
            <a:endCxn id="34" idx="1"/>
          </p:cNvCxnSpPr>
          <p:nvPr/>
        </p:nvCxnSpPr>
        <p:spPr>
          <a:xfrm>
            <a:off x="8381365" y="2005330"/>
            <a:ext cx="208280" cy="179705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6209665" y="2693670"/>
            <a:ext cx="2180590" cy="4210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  <a:sym typeface="+mn-ea"/>
              </a:rPr>
              <a:t>Ridge Regression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9" name="曲线连接符 38"/>
          <p:cNvCxnSpPr>
            <a:stCxn id="25" idx="3"/>
            <a:endCxn id="38" idx="1"/>
          </p:cNvCxnSpPr>
          <p:nvPr/>
        </p:nvCxnSpPr>
        <p:spPr>
          <a:xfrm>
            <a:off x="5767070" y="2199640"/>
            <a:ext cx="442595" cy="704850"/>
          </a:xfrm>
          <a:prstGeom prst="curvedConnector3">
            <a:avLst>
              <a:gd name="adj1" fmla="val 50072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曲线连接符 42"/>
          <p:cNvCxnSpPr>
            <a:stCxn id="38" idx="0"/>
            <a:endCxn id="7" idx="2"/>
          </p:cNvCxnSpPr>
          <p:nvPr/>
        </p:nvCxnSpPr>
        <p:spPr>
          <a:xfrm rot="16200000" flipV="1">
            <a:off x="7212013" y="2605723"/>
            <a:ext cx="173355" cy="2540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/>
        </p:nvSpPr>
        <p:spPr>
          <a:xfrm>
            <a:off x="8589645" y="1302385"/>
            <a:ext cx="2049145" cy="1764665"/>
          </a:xfrm>
          <a:prstGeom prst="round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Algerian" panose="04020705040A02060702" charset="0"/>
                <a:ea typeface="GWZT-EN" panose="02020400000000000000" charset="-122"/>
                <a:cs typeface="Algerian" panose="04020705040A02060702" charset="0"/>
              </a:rPr>
              <a:t>2028 Medal Table</a:t>
            </a:r>
            <a:endParaRPr lang="en-US" altLang="zh-CN" b="1">
              <a:solidFill>
                <a:schemeClr val="accent6">
                  <a:lumMod val="75000"/>
                </a:schemeClr>
              </a:solidFill>
              <a:latin typeface="Algerian" panose="04020705040A02060702" charset="0"/>
              <a:ea typeface="GWZT-EN" panose="02020400000000000000" charset="-122"/>
              <a:cs typeface="Algerian" panose="04020705040A02060702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73120" y="2853055"/>
            <a:ext cx="171323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Is_Host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cxnSp>
        <p:nvCxnSpPr>
          <p:cNvPr id="3" name="曲线连接符 2"/>
          <p:cNvCxnSpPr>
            <a:stCxn id="2" idx="3"/>
            <a:endCxn id="25" idx="1"/>
          </p:cNvCxnSpPr>
          <p:nvPr/>
        </p:nvCxnSpPr>
        <p:spPr>
          <a:xfrm flipV="1">
            <a:off x="5086350" y="2199640"/>
            <a:ext cx="308610" cy="803275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209665" y="2220595"/>
            <a:ext cx="2175510" cy="2997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Gold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/ 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Total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cxnSp>
        <p:nvCxnSpPr>
          <p:cNvPr id="8" name="曲线连接符 7"/>
          <p:cNvCxnSpPr>
            <a:stCxn id="25" idx="3"/>
            <a:endCxn id="26" idx="1"/>
          </p:cNvCxnSpPr>
          <p:nvPr/>
        </p:nvCxnSpPr>
        <p:spPr>
          <a:xfrm flipV="1">
            <a:off x="5767070" y="1509395"/>
            <a:ext cx="499745" cy="690245"/>
          </a:xfrm>
          <a:prstGeom prst="curvedConnector3">
            <a:avLst>
              <a:gd name="adj1" fmla="val 50064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曲线连接符 8"/>
          <p:cNvCxnSpPr>
            <a:stCxn id="7" idx="3"/>
            <a:endCxn id="34" idx="1"/>
          </p:cNvCxnSpPr>
          <p:nvPr/>
        </p:nvCxnSpPr>
        <p:spPr>
          <a:xfrm flipV="1">
            <a:off x="8385175" y="2185035"/>
            <a:ext cx="204470" cy="185420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645920" y="3544570"/>
            <a:ext cx="7275830" cy="27832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65730" y="4732020"/>
            <a:ext cx="185039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athletes_num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65730" y="5145405"/>
            <a:ext cx="185039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events_num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22450" y="5558790"/>
            <a:ext cx="269367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Attendance_growth_rate 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46555" y="5972175"/>
            <a:ext cx="2869565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sum_of_previous_3sessions 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449695" y="3630295"/>
            <a:ext cx="2353310" cy="2730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medal_counts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.csv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824730" y="5102860"/>
            <a:ext cx="1692275" cy="8255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Random Forest</a:t>
            </a:r>
            <a:endParaRPr lang="en-US" altLang="zh-CN" b="1">
              <a:solidFill>
                <a:schemeClr val="accent6">
                  <a:lumMod val="75000"/>
                </a:schemeClr>
              </a:solidFill>
              <a:latin typeface="GWZT-EN" panose="02020400000000000000" charset="-122"/>
              <a:ea typeface="GWZT-EN" panose="02020400000000000000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666365" y="3630295"/>
            <a:ext cx="2525395" cy="9036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Candidates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8" name="曲线连接符 17"/>
          <p:cNvCxnSpPr>
            <a:stCxn id="11" idx="3"/>
            <a:endCxn id="16" idx="1"/>
          </p:cNvCxnSpPr>
          <p:nvPr/>
        </p:nvCxnSpPr>
        <p:spPr>
          <a:xfrm>
            <a:off x="4516120" y="4881880"/>
            <a:ext cx="308610" cy="633730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曲线连接符 18"/>
          <p:cNvCxnSpPr/>
          <p:nvPr/>
        </p:nvCxnSpPr>
        <p:spPr>
          <a:xfrm>
            <a:off x="4443730" y="5295265"/>
            <a:ext cx="345440" cy="206375"/>
          </a:xfrm>
          <a:prstGeom prst="curvedConnector3">
            <a:avLst>
              <a:gd name="adj1" fmla="val 50184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曲线连接符 23"/>
          <p:cNvCxnSpPr>
            <a:stCxn id="13" idx="3"/>
            <a:endCxn id="16" idx="1"/>
          </p:cNvCxnSpPr>
          <p:nvPr/>
        </p:nvCxnSpPr>
        <p:spPr>
          <a:xfrm flipV="1">
            <a:off x="4516120" y="5515610"/>
            <a:ext cx="308610" cy="193040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曲线连接符 28"/>
          <p:cNvCxnSpPr>
            <a:stCxn id="14" idx="3"/>
            <a:endCxn id="16" idx="1"/>
          </p:cNvCxnSpPr>
          <p:nvPr/>
        </p:nvCxnSpPr>
        <p:spPr>
          <a:xfrm flipV="1">
            <a:off x="4516120" y="5515610"/>
            <a:ext cx="308610" cy="606425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曲线连接符 29"/>
          <p:cNvCxnSpPr>
            <a:stCxn id="15" idx="1"/>
            <a:endCxn id="17" idx="3"/>
          </p:cNvCxnSpPr>
          <p:nvPr/>
        </p:nvCxnSpPr>
        <p:spPr>
          <a:xfrm rot="10800000" flipV="1">
            <a:off x="5191760" y="3766820"/>
            <a:ext cx="1257935" cy="315595"/>
          </a:xfrm>
          <a:prstGeom prst="curvedConnector3">
            <a:avLst>
              <a:gd name="adj1" fmla="val 49975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5700395" y="4582160"/>
            <a:ext cx="1922145" cy="299720"/>
          </a:xfrm>
          <a:prstGeom prst="rect">
            <a:avLst/>
          </a:prstGeom>
          <a:solidFill>
            <a:srgbClr val="FFFF00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predicted_num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41" name="曲线连接符 40"/>
          <p:cNvCxnSpPr>
            <a:endCxn id="40" idx="0"/>
          </p:cNvCxnSpPr>
          <p:nvPr/>
        </p:nvCxnSpPr>
        <p:spPr>
          <a:xfrm>
            <a:off x="5090795" y="4080510"/>
            <a:ext cx="1692275" cy="501650"/>
          </a:xfrm>
          <a:prstGeom prst="curvedConnector2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曲线连接符 41"/>
          <p:cNvCxnSpPr/>
          <p:nvPr/>
        </p:nvCxnSpPr>
        <p:spPr>
          <a:xfrm>
            <a:off x="7578725" y="4732020"/>
            <a:ext cx="348615" cy="345440"/>
          </a:xfrm>
          <a:prstGeom prst="curvedConnector3">
            <a:avLst>
              <a:gd name="adj1" fmla="val 50091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6818630" y="5259070"/>
            <a:ext cx="803910" cy="299720"/>
          </a:xfrm>
          <a:prstGeom prst="rect">
            <a:avLst/>
          </a:prstGeom>
          <a:solidFill>
            <a:srgbClr val="FFFF00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Rank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47" name="曲线连接符 46"/>
          <p:cNvCxnSpPr>
            <a:stCxn id="16" idx="3"/>
            <a:endCxn id="45" idx="1"/>
          </p:cNvCxnSpPr>
          <p:nvPr/>
        </p:nvCxnSpPr>
        <p:spPr>
          <a:xfrm flipV="1">
            <a:off x="6459220" y="5408930"/>
            <a:ext cx="461010" cy="106680"/>
          </a:xfrm>
          <a:prstGeom prst="curvedConnector3">
            <a:avLst>
              <a:gd name="adj1" fmla="val 50079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曲线连接符 47"/>
          <p:cNvCxnSpPr>
            <a:stCxn id="45" idx="3"/>
          </p:cNvCxnSpPr>
          <p:nvPr/>
        </p:nvCxnSpPr>
        <p:spPr>
          <a:xfrm flipV="1">
            <a:off x="7578725" y="5078095"/>
            <a:ext cx="349250" cy="330835"/>
          </a:xfrm>
          <a:prstGeom prst="curvedConnector3">
            <a:avLst>
              <a:gd name="adj1" fmla="val 50104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5433695" y="3699510"/>
            <a:ext cx="1133475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800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Python</a:t>
            </a:r>
            <a:endParaRPr lang="en-US" altLang="zh-CN" sz="1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415915" y="4191635"/>
            <a:ext cx="1271905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en-US" altLang="zh-CN" sz="1800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GM(1,1)</a:t>
            </a:r>
            <a:endParaRPr lang="en-US" altLang="zh-CN" sz="1800" b="1">
              <a:solidFill>
                <a:schemeClr val="accent6">
                  <a:lumMod val="75000"/>
                </a:schemeClr>
              </a:solidFill>
              <a:latin typeface="GWZT-EN" panose="02020400000000000000" charset="-122"/>
              <a:ea typeface="GWZT-EN" panose="02020400000000000000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7924165" y="4533900"/>
            <a:ext cx="944880" cy="1088390"/>
          </a:xfrm>
          <a:prstGeom prst="round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Algerian" panose="04020705040A02060702" charset="0"/>
                <a:ea typeface="GWZT-EN" panose="02020400000000000000" charset="-122"/>
                <a:cs typeface="Algerian" panose="04020705040A02060702" charset="0"/>
              </a:rPr>
              <a:t>CF</a:t>
            </a:r>
            <a:endParaRPr lang="en-US" altLang="zh-CN" b="1">
              <a:solidFill>
                <a:schemeClr val="accent6">
                  <a:lumMod val="75000"/>
                </a:schemeClr>
              </a:solidFill>
              <a:latin typeface="Algerian" panose="04020705040A02060702" charset="0"/>
              <a:ea typeface="GWZT-EN" panose="02020400000000000000" charset="-122"/>
              <a:cs typeface="Algerian" panose="04020705040A02060702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997950" y="3544570"/>
            <a:ext cx="1846580" cy="27825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202420" y="3630930"/>
            <a:ext cx="1384300" cy="734695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Event Count Calculation 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202420" y="4381500"/>
            <a:ext cx="1384935" cy="1063625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Events’ Importance Evaluation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202420" y="5501640"/>
            <a:ext cx="1384935" cy="77089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Host   Adventage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2279650" y="2607945"/>
            <a:ext cx="9198610" cy="23387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35275" y="2735580"/>
            <a:ext cx="2884805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New Participants Count 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390140" y="3148965"/>
            <a:ext cx="332994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 No Medal 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Participants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 Count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335530" y="3562350"/>
            <a:ext cx="338455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 Won Medal Participants Count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239770" y="3975735"/>
            <a:ext cx="248031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Events Count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028690" y="3561715"/>
            <a:ext cx="372110" cy="34798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accent6">
                  <a:lumMod val="75000"/>
                </a:schemeClr>
              </a:solidFill>
              <a:latin typeface="GWZT-EN" panose="02020400000000000000" charset="-122"/>
              <a:ea typeface="GWZT-EN" panose="02020400000000000000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900545" y="2885440"/>
            <a:ext cx="2123440" cy="3200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</a:rPr>
              <a:t>Bootstrap method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7" name="曲线连接符 26"/>
          <p:cNvCxnSpPr>
            <a:stCxn id="4" idx="3"/>
            <a:endCxn id="25" idx="1"/>
          </p:cNvCxnSpPr>
          <p:nvPr/>
        </p:nvCxnSpPr>
        <p:spPr>
          <a:xfrm>
            <a:off x="5720080" y="2885440"/>
            <a:ext cx="308610" cy="850265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曲线连接符 27"/>
          <p:cNvCxnSpPr>
            <a:endCxn id="25" idx="1"/>
          </p:cNvCxnSpPr>
          <p:nvPr/>
        </p:nvCxnSpPr>
        <p:spPr>
          <a:xfrm rot="5400000" flipV="1">
            <a:off x="5629275" y="3336290"/>
            <a:ext cx="417195" cy="381000"/>
          </a:xfrm>
          <a:prstGeom prst="curvedConnector2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曲线连接符 30"/>
          <p:cNvCxnSpPr>
            <a:stCxn id="21" idx="3"/>
            <a:endCxn id="25" idx="1"/>
          </p:cNvCxnSpPr>
          <p:nvPr/>
        </p:nvCxnSpPr>
        <p:spPr>
          <a:xfrm>
            <a:off x="5720080" y="3712210"/>
            <a:ext cx="308610" cy="23495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曲线连接符 31"/>
          <p:cNvCxnSpPr>
            <a:stCxn id="22" idx="3"/>
            <a:endCxn id="25" idx="1"/>
          </p:cNvCxnSpPr>
          <p:nvPr/>
        </p:nvCxnSpPr>
        <p:spPr>
          <a:xfrm flipV="1">
            <a:off x="5720080" y="3735705"/>
            <a:ext cx="308610" cy="389890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891655" y="3391535"/>
            <a:ext cx="2123440" cy="2997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confidence 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interval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cxnSp>
        <p:nvCxnSpPr>
          <p:cNvPr id="36" name="曲线连接符 35"/>
          <p:cNvCxnSpPr>
            <a:stCxn id="26" idx="2"/>
            <a:endCxn id="35" idx="0"/>
          </p:cNvCxnSpPr>
          <p:nvPr/>
        </p:nvCxnSpPr>
        <p:spPr>
          <a:xfrm rot="5400000">
            <a:off x="7864793" y="3294063"/>
            <a:ext cx="186055" cy="8890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曲线连接符 36"/>
          <p:cNvCxnSpPr>
            <a:stCxn id="35" idx="3"/>
            <a:endCxn id="34" idx="1"/>
          </p:cNvCxnSpPr>
          <p:nvPr/>
        </p:nvCxnSpPr>
        <p:spPr>
          <a:xfrm>
            <a:off x="9015095" y="3541395"/>
            <a:ext cx="208280" cy="179705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6843395" y="4229735"/>
            <a:ext cx="2180590" cy="4210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GWZT-EN" panose="02020400000000000000" charset="-122"/>
                <a:ea typeface="GWZT-EN" panose="02020400000000000000" charset="-122"/>
                <a:sym typeface="+mn-ea"/>
              </a:rPr>
              <a:t>Ridge Regression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9" name="曲线连接符 38"/>
          <p:cNvCxnSpPr>
            <a:stCxn id="25" idx="3"/>
            <a:endCxn id="38" idx="1"/>
          </p:cNvCxnSpPr>
          <p:nvPr/>
        </p:nvCxnSpPr>
        <p:spPr>
          <a:xfrm>
            <a:off x="6400800" y="3735705"/>
            <a:ext cx="442595" cy="704850"/>
          </a:xfrm>
          <a:prstGeom prst="curvedConnector3">
            <a:avLst>
              <a:gd name="adj1" fmla="val 50072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曲线连接符 42"/>
          <p:cNvCxnSpPr>
            <a:stCxn id="38" idx="0"/>
            <a:endCxn id="7" idx="2"/>
          </p:cNvCxnSpPr>
          <p:nvPr/>
        </p:nvCxnSpPr>
        <p:spPr>
          <a:xfrm rot="16200000" flipV="1">
            <a:off x="7845743" y="4141788"/>
            <a:ext cx="173355" cy="2540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/>
        </p:nvSpPr>
        <p:spPr>
          <a:xfrm>
            <a:off x="9223375" y="2838450"/>
            <a:ext cx="2049145" cy="1764665"/>
          </a:xfrm>
          <a:prstGeom prst="round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Algerian" panose="04020705040A02060702" charset="0"/>
                <a:ea typeface="GWZT-EN" panose="02020400000000000000" charset="-122"/>
                <a:cs typeface="Algerian" panose="04020705040A02060702" charset="0"/>
              </a:rPr>
              <a:t>2028 Medal Table</a:t>
            </a:r>
            <a:endParaRPr lang="en-US" altLang="zh-CN" b="1">
              <a:solidFill>
                <a:schemeClr val="accent6">
                  <a:lumMod val="75000"/>
                </a:schemeClr>
              </a:solidFill>
              <a:latin typeface="Algerian" panose="04020705040A02060702" charset="0"/>
              <a:ea typeface="GWZT-EN" panose="02020400000000000000" charset="-122"/>
              <a:cs typeface="Algerian" panose="04020705040A02060702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06850" y="4389120"/>
            <a:ext cx="1713230" cy="299720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Is_Host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cxnSp>
        <p:nvCxnSpPr>
          <p:cNvPr id="3" name="曲线连接符 2"/>
          <p:cNvCxnSpPr>
            <a:stCxn id="2" idx="3"/>
            <a:endCxn id="25" idx="1"/>
          </p:cNvCxnSpPr>
          <p:nvPr/>
        </p:nvCxnSpPr>
        <p:spPr>
          <a:xfrm flipV="1">
            <a:off x="5720080" y="3735705"/>
            <a:ext cx="308610" cy="803275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843395" y="3756660"/>
            <a:ext cx="2175510" cy="2997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Gold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/ 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Total</a:t>
            </a:r>
            <a:endParaRPr lang="en-US" altLang="zh-CN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cxnSp>
        <p:nvCxnSpPr>
          <p:cNvPr id="8" name="曲线连接符 7"/>
          <p:cNvCxnSpPr>
            <a:stCxn id="25" idx="3"/>
            <a:endCxn id="26" idx="1"/>
          </p:cNvCxnSpPr>
          <p:nvPr/>
        </p:nvCxnSpPr>
        <p:spPr>
          <a:xfrm flipV="1">
            <a:off x="6400800" y="3045460"/>
            <a:ext cx="499745" cy="690245"/>
          </a:xfrm>
          <a:prstGeom prst="curvedConnector3">
            <a:avLst>
              <a:gd name="adj1" fmla="val 50064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曲线连接符 8"/>
          <p:cNvCxnSpPr>
            <a:stCxn id="7" idx="3"/>
            <a:endCxn id="34" idx="1"/>
          </p:cNvCxnSpPr>
          <p:nvPr/>
        </p:nvCxnSpPr>
        <p:spPr>
          <a:xfrm flipV="1">
            <a:off x="9018905" y="3721100"/>
            <a:ext cx="204470" cy="185420"/>
          </a:xfrm>
          <a:prstGeom prst="curved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261995" y="-2324100"/>
            <a:ext cx="18716625" cy="115062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2191365" y="-1689735"/>
            <a:ext cx="1950085" cy="346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5.925</a:t>
            </a:r>
            <a:endParaRPr lang="en-US" altLang="zh-CN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2085" y="-83185"/>
            <a:ext cx="10755630" cy="74161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646920" y="3460115"/>
            <a:ext cx="925195" cy="33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en-US" altLang="zh-CN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361805" y="3978275"/>
            <a:ext cx="925195" cy="33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3.882</a:t>
            </a:r>
            <a:endParaRPr lang="en-US" altLang="zh-CN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71345" y="-2366645"/>
            <a:ext cx="15935325" cy="115919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69150" y="-1134745"/>
            <a:ext cx="46367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27</a:t>
            </a:r>
            <a:endParaRPr lang="en-US" altLang="zh-CN" sz="4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6405" y="7689215"/>
            <a:ext cx="46367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4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7" name="曲线连接符 6"/>
          <p:cNvCxnSpPr>
            <a:stCxn id="4" idx="0"/>
            <a:endCxn id="3" idx="1"/>
          </p:cNvCxnSpPr>
          <p:nvPr/>
        </p:nvCxnSpPr>
        <p:spPr>
          <a:xfrm rot="16200000">
            <a:off x="746760" y="1266825"/>
            <a:ext cx="8439785" cy="4404360"/>
          </a:xfrm>
          <a:prstGeom prst="curvedConnector2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9650" y="-2109470"/>
            <a:ext cx="14211300" cy="110775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59625" y="-1806575"/>
            <a:ext cx="46367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8</a:t>
            </a:r>
            <a:endParaRPr lang="en-US" altLang="zh-CN" sz="4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6405" y="7689215"/>
            <a:ext cx="46367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4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7" name="曲线连接符 6"/>
          <p:cNvCxnSpPr/>
          <p:nvPr/>
        </p:nvCxnSpPr>
        <p:spPr>
          <a:xfrm rot="16200000">
            <a:off x="746760" y="1266825"/>
            <a:ext cx="8439785" cy="4404360"/>
          </a:xfrm>
          <a:prstGeom prst="curvedConnector2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104390" y="0"/>
            <a:ext cx="34918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</a:rPr>
              <a:t>“Great Coach”</a:t>
            </a:r>
            <a:endParaRPr lang="en-US" altLang="zh-CN" sz="2400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</a:endParaRPr>
          </a:p>
          <a:p>
            <a:pPr algn="ctr"/>
            <a:r>
              <a:rPr lang="en-US" altLang="zh-CN" sz="2400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</a:rPr>
              <a:t> Effect</a:t>
            </a:r>
            <a:endParaRPr lang="en-US" altLang="zh-CN" sz="2400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34110" y="-2185670"/>
            <a:ext cx="14344650" cy="112299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27695" y="-1951355"/>
            <a:ext cx="46367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1</a:t>
            </a:r>
            <a:r>
              <a:rPr lang="en-US" altLang="zh-CN" sz="4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Gold</a:t>
            </a:r>
            <a:endParaRPr lang="en-US" altLang="zh-CN" sz="4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744220" y="-1951355"/>
            <a:ext cx="46367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1</a:t>
            </a:r>
            <a:r>
              <a:rPr lang="en-US" altLang="zh-CN" sz="4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Bronze</a:t>
            </a:r>
            <a:endParaRPr lang="en-US" altLang="zh-CN" sz="4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01415" y="7832725"/>
            <a:ext cx="46367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4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下弧形箭头 5"/>
          <p:cNvSpPr/>
          <p:nvPr/>
        </p:nvSpPr>
        <p:spPr>
          <a:xfrm>
            <a:off x="4436110" y="619760"/>
            <a:ext cx="3792220" cy="6600190"/>
          </a:xfrm>
          <a:prstGeom prst="curvedUpArrow">
            <a:avLst>
              <a:gd name="adj1" fmla="val 2655"/>
              <a:gd name="adj2" fmla="val 50000"/>
              <a:gd name="adj3" fmla="val 38948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71160" y="-278130"/>
            <a:ext cx="34918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</a:rPr>
              <a:t>“Great Coach”</a:t>
            </a:r>
            <a:endParaRPr lang="en-US" altLang="zh-CN" sz="2400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</a:endParaRPr>
          </a:p>
          <a:p>
            <a:pPr algn="ctr"/>
            <a:r>
              <a:rPr lang="en-US" altLang="zh-CN" sz="2400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</a:rPr>
              <a:t> Effect</a:t>
            </a:r>
            <a:endParaRPr lang="en-US" altLang="zh-CN" sz="2400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19095" y="-2433320"/>
            <a:ext cx="18030825" cy="117252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175" y="606425"/>
            <a:ext cx="9391650" cy="56451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991995" y="5828665"/>
            <a:ext cx="8829040" cy="488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28545" y="7639685"/>
            <a:ext cx="12299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2339975" y="5872480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USA</a:t>
            </a:r>
            <a:endParaRPr lang="en-US" altLang="zh-CN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42540" y="6507480"/>
            <a:ext cx="51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985135" y="5872480"/>
            <a:ext cx="68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CHA</a:t>
            </a:r>
            <a:endParaRPr lang="en-US" altLang="zh-CN" b="1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85315" y="7142480"/>
            <a:ext cx="1099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923540" y="6888480"/>
            <a:ext cx="51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688715" y="5872480"/>
            <a:ext cx="655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JPN</a:t>
            </a:r>
            <a:endParaRPr lang="en-US" altLang="zh-CN" b="1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77540" y="7142480"/>
            <a:ext cx="1026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304540" y="7269480"/>
            <a:ext cx="51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363720" y="5872480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FRA</a:t>
            </a:r>
            <a:endParaRPr lang="en-US" altLang="zh-CN" b="1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 flipH="1" flipV="1">
            <a:off x="4076700" y="7891780"/>
            <a:ext cx="254000" cy="90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584700" y="8041640"/>
            <a:ext cx="51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812540" y="7777480"/>
            <a:ext cx="51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043170" y="5872480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GBR</a:t>
            </a:r>
            <a:endParaRPr lang="en-US" altLang="zh-CN" b="1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075420" y="5872480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ESP</a:t>
            </a:r>
            <a:endParaRPr lang="en-US" altLang="zh-CN" b="1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35010" y="5872480"/>
            <a:ext cx="81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NED</a:t>
            </a:r>
            <a:endParaRPr lang="en-US" altLang="zh-CN" b="1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66990" y="5872480"/>
            <a:ext cx="767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CAN</a:t>
            </a:r>
            <a:endParaRPr lang="en-US" altLang="zh-CN" b="1"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031990" y="5872480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ITA</a:t>
            </a:r>
            <a:endParaRPr lang="en-US" altLang="zh-CN" b="1"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377305" y="5872480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AUS</a:t>
            </a:r>
            <a:endParaRPr lang="en-US" altLang="zh-CN" b="1"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22620" y="5872480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GER</a:t>
            </a:r>
            <a:endParaRPr lang="en-US" altLang="zh-CN" b="1"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744075" y="5858510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BRA</a:t>
            </a:r>
            <a:endParaRPr lang="en-US" altLang="zh-CN" b="1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09600" y="-337820"/>
            <a:ext cx="13411200" cy="7534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1" name="图片 11" descr="4f50519d2947b49b34589d2c13373220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1766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21995" y="5547995"/>
            <a:ext cx="11359515" cy="488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52500" y="5567045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USA</a:t>
            </a:r>
            <a:endParaRPr lang="en-US" altLang="zh-CN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80210" y="5564505"/>
            <a:ext cx="68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CHA</a:t>
            </a:r>
            <a:endParaRPr lang="en-US" altLang="zh-CN" b="1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15540" y="5564505"/>
            <a:ext cx="655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JPN</a:t>
            </a:r>
            <a:endParaRPr lang="en-US" altLang="zh-CN" b="1"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78810" y="5564505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AUS</a:t>
            </a:r>
            <a:endParaRPr lang="en-US" altLang="zh-CN" b="1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913505" y="5564505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GBR</a:t>
            </a:r>
            <a:endParaRPr lang="en-US" altLang="zh-CN" b="1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368030" y="5556250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ESP</a:t>
            </a:r>
            <a:endParaRPr lang="en-US" altLang="zh-CN" b="1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532370" y="5556250"/>
            <a:ext cx="81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NED</a:t>
            </a:r>
            <a:endParaRPr lang="en-US" altLang="zh-CN" b="1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819265" y="5550535"/>
            <a:ext cx="767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CAN</a:t>
            </a:r>
            <a:endParaRPr lang="en-US" altLang="zh-CN" b="1"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153785" y="5556250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ITA</a:t>
            </a:r>
            <a:endParaRPr lang="en-US" altLang="zh-CN" b="1"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85435" y="5556250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FRA</a:t>
            </a:r>
            <a:endParaRPr lang="en-US" altLang="zh-CN" b="1"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57090" y="5564505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GER</a:t>
            </a:r>
            <a:endParaRPr lang="en-US" altLang="zh-CN" b="1"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106535" y="5553075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SWE</a:t>
            </a:r>
            <a:endParaRPr lang="en-US" altLang="zh-CN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49485" y="5553075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NZL</a:t>
            </a:r>
            <a:endParaRPr lang="en-US" altLang="zh-CN" b="1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563225" y="5542280"/>
            <a:ext cx="69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HUN</a:t>
            </a:r>
            <a:endParaRPr lang="en-US" altLang="zh-CN" b="1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344910" y="5542280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BRA</a:t>
            </a:r>
            <a:endParaRPr lang="en-US" altLang="zh-CN" b="1"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160" y="1038860"/>
            <a:ext cx="9258300" cy="4512945"/>
          </a:xfrm>
          <a:prstGeom prst="rect">
            <a:avLst/>
          </a:prstGeom>
        </p:spPr>
      </p:pic>
      <p:sp>
        <p:nvSpPr>
          <p:cNvPr id="6" name="内容占位符 5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43730" y="2596515"/>
            <a:ext cx="4321810" cy="26993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" y="2596515"/>
            <a:ext cx="4704080" cy="28695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9" name="图片 19" descr="5ec5bf569fac2aaddf620e266a4c0ba"/>
          <p:cNvPicPr>
            <a:picLocks noChangeAspect="1"/>
          </p:cNvPicPr>
          <p:nvPr/>
        </p:nvPicPr>
        <p:blipFill>
          <a:blip r:embed="rId1"/>
          <a:srcRect t="9158" r="-109" b="4201"/>
          <a:stretch>
            <a:fillRect/>
          </a:stretch>
        </p:blipFill>
        <p:spPr>
          <a:xfrm>
            <a:off x="1344930" y="499110"/>
            <a:ext cx="5817235" cy="3496310"/>
          </a:xfrm>
          <a:prstGeom prst="rect">
            <a:avLst/>
          </a:prstGeom>
        </p:spPr>
      </p:pic>
      <p:pic>
        <p:nvPicPr>
          <p:cNvPr id="21" name="图片 21" descr="bdd563481657ad6bf944f89deb10201"/>
          <p:cNvPicPr>
            <a:picLocks noChangeAspect="1"/>
          </p:cNvPicPr>
          <p:nvPr/>
        </p:nvPicPr>
        <p:blipFill>
          <a:blip r:embed="rId2"/>
          <a:srcRect t="7289" r="126" b="5301"/>
          <a:stretch>
            <a:fillRect/>
          </a:stretch>
        </p:blipFill>
        <p:spPr>
          <a:xfrm>
            <a:off x="6932295" y="499110"/>
            <a:ext cx="5708015" cy="3486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WPS 演示</Application>
  <PresentationFormat>宽屏</PresentationFormat>
  <Paragraphs>214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53" baseType="lpstr">
      <vt:lpstr>Arial</vt:lpstr>
      <vt:lpstr>宋体</vt:lpstr>
      <vt:lpstr>Wingdings</vt:lpstr>
      <vt:lpstr>Cambria Math</vt:lpstr>
      <vt:lpstr>Comic Sans MS</vt:lpstr>
      <vt:lpstr>华文中宋</vt:lpstr>
      <vt:lpstr>等线</vt:lpstr>
      <vt:lpstr>等线 Light</vt:lpstr>
      <vt:lpstr>微软雅黑</vt:lpstr>
      <vt:lpstr>Arial Unicode MS</vt:lpstr>
      <vt:lpstr>Calibri</vt:lpstr>
      <vt:lpstr>Inter</vt:lpstr>
      <vt:lpstr>SWAstro</vt:lpstr>
      <vt:lpstr>WPS灵秀黑</vt:lpstr>
      <vt:lpstr>华文新魏</vt:lpstr>
      <vt:lpstr>幼圆</vt:lpstr>
      <vt:lpstr>隶书</vt:lpstr>
      <vt:lpstr>Bodoni MT Black</vt:lpstr>
      <vt:lpstr>Bodoni MT</vt:lpstr>
      <vt:lpstr>Bernard MT Condensed</vt:lpstr>
      <vt:lpstr>Book Antiqua</vt:lpstr>
      <vt:lpstr>Brush Script MT</vt:lpstr>
      <vt:lpstr>Calibri Light</vt:lpstr>
      <vt:lpstr>Candara Light</vt:lpstr>
      <vt:lpstr>Cascadia Code</vt:lpstr>
      <vt:lpstr>方正姚体</vt:lpstr>
      <vt:lpstr>汉仪长仿宋体</vt:lpstr>
      <vt:lpstr>Malgun Gothic</vt:lpstr>
      <vt:lpstr>GWZT-EN</vt:lpstr>
      <vt:lpstr>Microsoft JhengHei</vt:lpstr>
      <vt:lpstr>Yu Gothic Light</vt:lpstr>
      <vt:lpstr>Agency FB</vt:lpstr>
      <vt:lpstr>Yu Gothic UI Semibold</vt:lpstr>
      <vt:lpstr>Algerian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子曦 黄</dc:creator>
  <cp:lastModifiedBy>黄子曦</cp:lastModifiedBy>
  <cp:revision>10</cp:revision>
  <dcterms:created xsi:type="dcterms:W3CDTF">2025-01-22T02:46:00Z</dcterms:created>
  <dcterms:modified xsi:type="dcterms:W3CDTF">2025-01-28T04:55:03Z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FF58CE3D9597401EAAA0684F66407C0C_12</vt:lpwstr>
  </property>
  <property fmtid="{D5CDD505-2E9C-101B-9397-08002B2CF9AE}" pid="3" name="KSOProductBuildVer">
    <vt:lpwstr>2052-12.1.0.19770</vt:lpwstr>
  </property>
</Properties>
</file>